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t>01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400" b="1">
                <a:solidFill>
                  <a:srgbClr val="111827"/>
                </a:solidFill>
                <a:latin typeface="Aptos"/>
              </a:defRPr>
            </a:pPr>
            <a:r>
              <a:t>DEPTH FIRST SEARCH (DFS)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Design and Analysis of Algorithms (DAA)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A graph traversal algorithm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6382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Explores one path deeply before backtracking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4106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64008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DAA • CA-3 • Depth First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t>02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"/>
              </a:defRPr>
            </a:pPr>
            <a:r>
              <a:t>What is DFS?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Depth First Search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DFS visits a starting vertex first.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6382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It then follows an unvisited neighbour as far as possible.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4106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When no unvisited neighbour remains, it backtracks.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64008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DAA • CA-3 • Depth First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t>03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"/>
              </a:defRPr>
            </a:pPr>
            <a:r>
              <a:t>How DFS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Core idea: go deep, then backtrack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1. Choose a starting node.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6382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2. Mark it as visited.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4106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3. Visit an unvisited neighbour and repeat.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1830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4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4. If stuck, backtrack until another path is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64008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DAA • CA-3 • Depth First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t>04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"/>
              </a:defRPr>
            </a:pPr>
            <a:r>
              <a:t>Example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Start at A; visit neighbours alphabetically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148840" y="2697480"/>
            <a:ext cx="2011680" cy="6400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8840" y="3337560"/>
            <a:ext cx="2011680" cy="9144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160520" y="2148840"/>
            <a:ext cx="201168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60520" y="2697480"/>
            <a:ext cx="2011680" cy="4572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60520" y="4251960"/>
            <a:ext cx="2011680" cy="2743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828800" y="3108960"/>
            <a:ext cx="64008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0" y="2468880"/>
            <a:ext cx="64008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3840480" y="4023360"/>
            <a:ext cx="640080" cy="457200"/>
          </a:xfrm>
          <a:prstGeom prst="ellipse">
            <a:avLst/>
          </a:prstGeom>
          <a:solidFill>
            <a:srgbClr val="0D94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920240"/>
            <a:ext cx="64008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2926080"/>
            <a:ext cx="640080" cy="457200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0" y="4297680"/>
            <a:ext cx="640080" cy="457200"/>
          </a:xfrm>
          <a:prstGeom prst="ellipse">
            <a:avLst/>
          </a:prstGeom>
          <a:solidFill>
            <a:srgbClr val="0D94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74920"/>
            <a:ext cx="4572000" cy="38404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• Edges: A–B, A–C, B–D, B–E, C–F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486400"/>
            <a:ext cx="4572000" cy="38404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Aptos"/>
              </a:defRPr>
            </a:pPr>
            <a:r>
              <a:t>• One valid DFS order: A → B → D → E → C → 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897880"/>
            <a:ext cx="4572000" cy="38404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• The exact order depends on neighbour ordering.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64008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DAA • CA-3 • Depth First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t>05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"/>
              </a:defRPr>
            </a:pPr>
            <a:r>
              <a:t>DFS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Recursive approach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DFS(v):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6382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    mark v as visited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4106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    print v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1830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4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    for each neighbour u of v: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49554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440679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        if u is not visited: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627278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6217919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            DFS(u)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64008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DAA • CA-3 • Depth First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t>06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"/>
              </a:defRPr>
            </a:pPr>
            <a:r>
              <a:t>Time &amp; Space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For adjacency-list representation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1">
                <a:solidFill>
                  <a:srgbClr val="1F2937"/>
                </a:solidFill>
                <a:latin typeface="Aptos"/>
              </a:defRPr>
            </a:pPr>
            <a:r>
              <a:t>Time: O(V + E)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6382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V = number of vertices; E = number of edges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4106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1">
                <a:solidFill>
                  <a:srgbClr val="1F2937"/>
                </a:solidFill>
                <a:latin typeface="Aptos"/>
              </a:defRPr>
            </a:pPr>
            <a:r>
              <a:t>Space: O(V) for visited tracking and recursion stack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1830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4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DFS can also be implemented with an explicit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64008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DAA • CA-3 • Depth First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32004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ptos"/>
              </a:defRPr>
            </a:pPr>
            <a:r>
              <a:t>07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"/>
              </a:defRPr>
            </a:pPr>
            <a:r>
              <a:t>Applications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ptos"/>
              </a:defRPr>
            </a:pPr>
            <a:r>
              <a:t>Where DFS is useful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Finding connected components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6382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Cycle detection and topological sorting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4106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Maze/path exploration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71830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40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Remember: DFS goes deep first, then backtracks.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495543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440679"/>
            <a:ext cx="9875520" cy="53035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640080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DAA • CA-3 • Depth First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446520"/>
            <a:ext cx="3017520" cy="2286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  <a:latin typeface="Aptos"/>
              </a:defRPr>
            </a:pPr>
            <a:r>
              <a:t>DEPTH FIRST SEARCH (DFS)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Aptos"/>
              </a:defRPr>
            </a:pPr>
            <a:r>
              <a:t>Design and Analysis of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331720"/>
            <a:ext cx="63093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2651760"/>
            <a:ext cx="6675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748B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Aptos"/>
              </a:defRPr>
            </a:pPr>
            <a:r>
              <a:t>Hasnain Kamani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748B"/>
                </a:solidFill>
                <a:latin typeface="Aptos"/>
              </a:defRPr>
            </a:pPr>
            <a:r>
              <a:t>PRN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429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Aptos"/>
              </a:defRPr>
            </a:pPr>
            <a:r>
              <a:t>25070521248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748B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Aptos"/>
              </a:defRPr>
            </a:pPr>
            <a:r>
              <a:t>DAA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748B"/>
                </a:solidFill>
                <a:latin typeface="Aptos"/>
              </a:defRPr>
            </a:pPr>
            <a:r>
              <a:t>Semester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Aptos"/>
              </a:defRPr>
            </a:pPr>
            <a:r>
              <a:t>3rd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